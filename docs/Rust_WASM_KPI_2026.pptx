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Speed-up (×)</c:v>
                </c:pt>
              </c:strCache>
            </c:strRef>
          </c:tx>
          <c:spPr>
            <a:solidFill>
              <a:srgbClr val="2F9E6F"/>
            </a:solidFill>
          </c:spPr>
          <c:cat>
            <c:strRef>
              <c:f>Sheet1!$A$2:$A$6</c:f>
              <c:strCache>
                <c:ptCount val="5"/>
                <c:pt idx="0">
                  <c:v>Image blur, 12 MP (JavaScript)</c:v>
                </c:pt>
                <c:pt idx="1">
                  <c:v>Image blur, 12 MP (C# server)</c:v>
                </c:pt>
                <c:pt idx="2">
                  <c:v>CSV validate, 100k rows (JavaScript)</c:v>
                </c:pt>
                <c:pt idx="3">
                  <c:v>CSV validate, 100k rows (C# server)</c:v>
                </c:pt>
                <c:pt idx="4">
                  <c:v>XLSX validate, 100k rows (C# server)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1.11</c:v>
                </c:pt>
                <c:pt idx="1">
                  <c:v>2.21</c:v>
                </c:pt>
                <c:pt idx="2">
                  <c:v>2.39</c:v>
                </c:pt>
                <c:pt idx="3">
                  <c:v>6.32</c:v>
                </c:pt>
                <c:pt idx="4">
                  <c:v>3.55</c:v>
                </c:pt>
              </c:numCache>
            </c:numRef>
          </c:val>
        </c:ser>
        <c:dLbls>
          <c:numFmt formatCode="0.0&quot;×&quot;" sourceLinked="0"/>
          <c:txPr>
            <a:bodyPr/>
            <a:lstStyle/>
            <a:p>
              <a:pPr>
                <a:defRPr sz="1400" b="1">
                  <a:latin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Opening. This deck is my evidence for the yearly KPI: master one new technology beyond the skill standard, understand its pros and cons, and show it with slides, a demo and code. I chose Rust compiled to WebAssembly.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 each KPI expectation to a deliverable. Blog post is the remaining item and is honest to call out as planned.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toolchain once: Rust compiles to a .wasm binary, wasm-bindgen creates the JavaScript bindings, and we call it from a Web Worker so the UI never freezes.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engines, same inputs. JS and WASM both run in Web Workers. The server path includes upload and download, which is the real cost a user waits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upfront about methodology and its limits. Numbers will vary by machine, so I record them by script rather than by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table honestly: WASM wins everywhere, but the margin ranges widely. Against JavaScript on image blur the gain is modest; against the server, where upload and download count, the gain is largest.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honest story: WASM is faster in every scenario, but the biggest wins come from removing the network, not just from the faster compute.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screen: left panel is the traditional approach, right panel is Rust/WASM. The banner states the speed-up and the match check proves the answers are identical.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the recorded demo. It was captured by a script so the run is repeatable.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advantages that are measurable (speed) and architectural (privacy, cost, offline).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candid. Other demo-specific limits: JS has no xlsx parser, hand-rolled CSV split ignores newlines in quoted fields, performance.memory is Chrome-only, and image decode time is not included in any engine's timing.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 recommendation: use WASM for isolated, CPU-heavy, data-local tasks, and keep everything else in JavaScript or on the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loop to the KPI: list the skills gained and the evidence produced.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follow-up plan and open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F9E6F"/>
                </a:solidFill>
                <a:latin typeface="Segoe UI"/>
              </a:rPr>
              <a:t>ANNUAL TECHNOLOGY KPI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51560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Rust → WebAssembly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5468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C7D2E6"/>
                </a:solidFill>
                <a:latin typeface="Segoe UI"/>
              </a:rPr>
              <a:t>Running native-speed code in the browser: measured against JavaScript and a C# (.NET)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97680"/>
            <a:ext cx="2011680" cy="45720"/>
          </a:xfrm>
          <a:prstGeom prst="rect">
            <a:avLst/>
          </a:prstGeom>
          <a:solidFill>
            <a:srgbClr val="DE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A5B4CC"/>
                </a:solidFill>
                <a:latin typeface="Segoe UI"/>
              </a:rPr>
              <a:t>Research  •  Advantages &amp; disadvantages  •  Working demo  •  Code sample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The KPI and how this work answers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5B4CC"/>
                </a:solidFill>
                <a:latin typeface="Segoe UI"/>
              </a:rPr>
              <a:t>Continuously research and master a new technology each year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Rust → WebAssembly  |  Annual new-technology KPI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539496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82296" cy="237744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72768"/>
            <a:ext cx="50292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64748B"/>
                </a:solidFill>
                <a:latin typeface="Segoe UI"/>
              </a:rPr>
              <a:t>The KPI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29968"/>
            <a:ext cx="5029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Segoe UI"/>
              </a:rPr>
              <a:t>Master at least one new technology beyond the skill standard, every year.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Segoe UI"/>
              </a:rPr>
              <a:t>Understand its advantages and disadvantages clearly.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Segoe UI"/>
              </a:rPr>
              <a:t>Develop personal skills; prove it with slides, a demo, code and a blog post.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463040"/>
            <a:ext cx="539496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463040"/>
            <a:ext cx="82296" cy="237744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72768"/>
            <a:ext cx="50292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F9E6F"/>
                </a:solidFill>
                <a:latin typeface="Segoe UI"/>
              </a:rPr>
              <a:t>My choice this year: Rust + WebAssembly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29968"/>
            <a:ext cx="50292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Segoe UI"/>
              </a:rPr>
              <a:t>Outside my daily stack (C# / .NET / JavaScript).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Segoe UI"/>
              </a:rPr>
              <a:t>Directly relevant: heavy file and image work today runs on servers.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Segoe UI"/>
              </a:rPr>
              <a:t>Question to answer: when is it worth moving that work into the browser?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E293B"/>
                </a:solidFill>
                <a:latin typeface="Segoe UI"/>
              </a:rPr>
              <a:t>Expected outputs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389120"/>
            <a:ext cx="265176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389120"/>
            <a:ext cx="2651760" cy="73152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57200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F9E6F"/>
                </a:solidFill>
                <a:latin typeface="Segoe UI"/>
              </a:rPr>
              <a:t>✔  Slides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029200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E293B"/>
                </a:solidFill>
                <a:latin typeface="Segoe UI"/>
              </a:rPr>
              <a:t>this deck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4389120"/>
            <a:ext cx="265176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83280" y="4389120"/>
            <a:ext cx="2651760" cy="73152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457200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F9E6F"/>
                </a:solidFill>
                <a:latin typeface="Segoe UI"/>
              </a:rPr>
              <a:t>✔ 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5029200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E293B"/>
                </a:solidFill>
                <a:latin typeface="Segoe UI"/>
              </a:rPr>
              <a:t>split-screen app + recorded video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389120"/>
            <a:ext cx="265176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389120"/>
            <a:ext cx="2651760" cy="73152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57200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F9E6F"/>
                </a:solidFill>
                <a:latin typeface="Segoe UI"/>
              </a:rPr>
              <a:t>✔  Code sample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5029200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E293B"/>
                </a:solidFill>
                <a:latin typeface="Segoe UI"/>
              </a:rPr>
              <a:t>rust-core, web-ui, dotnet-api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52560" y="4389120"/>
            <a:ext cx="265176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52560" y="4389120"/>
            <a:ext cx="2651760" cy="73152"/>
          </a:xfrm>
          <a:prstGeom prst="rect">
            <a:avLst/>
          </a:prstGeom>
          <a:solidFill>
            <a:srgbClr val="D9A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9720" y="457200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D9A21B"/>
                </a:solidFill>
                <a:latin typeface="Segoe UI"/>
              </a:rPr>
              <a:t>○  Blog post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5029200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E293B"/>
                </a:solidFill>
                <a:latin typeface="Segoe UI"/>
              </a:rPr>
              <a:t>planned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What is Rust + WebAssembly?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5B4CC"/>
                </a:solidFill>
                <a:latin typeface="Segoe UI"/>
              </a:rPr>
              <a:t>A compiled, memory-safe language running in a sandbox next to JavaScript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Rust → WebAssembly  |  Annual new-technology KPI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24231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2423160" cy="91440"/>
          </a:xfrm>
          <a:prstGeom prst="rect">
            <a:avLst/>
          </a:prstGeom>
          <a:solidFill>
            <a:srgbClr val="DE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22402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DE6B2F"/>
                </a:solidFill>
                <a:latin typeface="Segoe UI"/>
              </a:rPr>
              <a:t>Rust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22402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E293B"/>
                </a:solidFill>
                <a:latin typeface="Segoe UI"/>
              </a:rPr>
              <a:t>lib.rs, about 235 lines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1E293B"/>
                </a:solidFill>
                <a:latin typeface="Segoe UI"/>
              </a:rPr>
              <a:t>serde, csv, calamine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017520" y="2240280"/>
            <a:ext cx="365760" cy="32004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554480"/>
            <a:ext cx="24231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1554480"/>
            <a:ext cx="2423160" cy="9144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1737360"/>
            <a:ext cx="22402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64748B"/>
                </a:solidFill>
                <a:latin typeface="Segoe UI"/>
              </a:rPr>
              <a:t>wasm-pack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286000"/>
            <a:ext cx="22402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E293B"/>
                </a:solidFill>
                <a:latin typeface="Segoe UI"/>
              </a:rPr>
              <a:t>wasm-bindgen generates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1E293B"/>
                </a:solidFill>
                <a:latin typeface="Segoe UI"/>
              </a:rPr>
              <a:t>JS glue + TypeScript types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897880" y="2240280"/>
            <a:ext cx="365760" cy="32004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59" y="1554480"/>
            <a:ext cx="24231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1554480"/>
            <a:ext cx="2423160" cy="9144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799" y="1737360"/>
            <a:ext cx="22402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2F9E6F"/>
                </a:solidFill>
                <a:latin typeface="Segoe UI"/>
              </a:rPr>
              <a:t>.wasm module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799" y="2286000"/>
            <a:ext cx="22402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E293B"/>
                </a:solidFill>
                <a:latin typeface="Segoe UI"/>
              </a:rPr>
              <a:t>539 KB, no wasm-opt yet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1E293B"/>
                </a:solidFill>
                <a:latin typeface="Segoe UI"/>
              </a:rPr>
              <a:t>compiled in 30 ms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778239" y="2240280"/>
            <a:ext cx="365760" cy="32004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9719" y="1554480"/>
            <a:ext cx="2423160" cy="1737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89719" y="1554480"/>
            <a:ext cx="2423160" cy="91440"/>
          </a:xfrm>
          <a:prstGeom prst="rect">
            <a:avLst/>
          </a:prstGeom>
          <a:solidFill>
            <a:srgbClr val="654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59" y="1737360"/>
            <a:ext cx="22402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654FF0"/>
                </a:solidFill>
                <a:latin typeface="Segoe UI"/>
              </a:rPr>
              <a:t>Web Worker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59" y="2286000"/>
            <a:ext cx="22402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1E293B"/>
                </a:solidFill>
                <a:latin typeface="Segoe UI"/>
              </a:rPr>
              <a:t>Calls Rust from JS;</a:t>
            </a: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1E293B"/>
                </a:solidFill>
                <a:latin typeface="Segoe UI"/>
              </a:rPr>
              <a:t>UI thread stays free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657600"/>
            <a:ext cx="11155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F9E6F"/>
                </a:solidFill>
                <a:latin typeface="Segoe UI"/>
              </a:rPr>
              <a:t>■  </a:t>
            </a:r>
            <a:r>
              <a:rPr sz="1900" b="1">
                <a:solidFill>
                  <a:srgbClr val="1E293B"/>
                </a:solidFill>
                <a:latin typeface="Segoe UI"/>
              </a:rPr>
              <a:t>Near-native speed: </a:t>
            </a:r>
            <a:r>
              <a:rPr sz="1900">
                <a:solidFill>
                  <a:srgbClr val="1E293B"/>
                </a:solidFill>
                <a:latin typeface="Segoe UI"/>
              </a:rPr>
              <a:t>predictable performance, no garbage collector, SIMD-friendly code.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F9E6F"/>
                </a:solidFill>
                <a:latin typeface="Segoe UI"/>
              </a:rPr>
              <a:t>■  </a:t>
            </a:r>
            <a:r>
              <a:rPr sz="1900" b="1">
                <a:solidFill>
                  <a:srgbClr val="1E293B"/>
                </a:solidFill>
                <a:latin typeface="Segoe UI"/>
              </a:rPr>
              <a:t>Memory safety: </a:t>
            </a:r>
            <a:r>
              <a:rPr sz="1900">
                <a:solidFill>
                  <a:srgbClr val="1E293B"/>
                </a:solidFill>
                <a:latin typeface="Segoe UI"/>
              </a:rPr>
              <a:t>Rust's ownership model prevents whole classes of bugs without a runtime.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F9E6F"/>
                </a:solidFill>
                <a:latin typeface="Segoe UI"/>
              </a:rPr>
              <a:t>■  </a:t>
            </a:r>
            <a:r>
              <a:rPr sz="1900" b="1">
                <a:solidFill>
                  <a:srgbClr val="1E293B"/>
                </a:solidFill>
                <a:latin typeface="Segoe UI"/>
              </a:rPr>
              <a:t>Runs on the client: </a:t>
            </a:r>
            <a:r>
              <a:rPr sz="1900">
                <a:solidFill>
                  <a:srgbClr val="1E293B"/>
                </a:solidFill>
                <a:latin typeface="Segoe UI"/>
              </a:rPr>
              <a:t>data can be processed locally; nothing needs to be uploaded.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F9E6F"/>
                </a:solidFill>
                <a:latin typeface="Segoe UI"/>
              </a:rPr>
              <a:t>■  </a:t>
            </a:r>
            <a:r>
              <a:rPr sz="1900" b="1">
                <a:solidFill>
                  <a:srgbClr val="1E293B"/>
                </a:solidFill>
                <a:latin typeface="Segoe UI"/>
              </a:rPr>
              <a:t>Portable: </a:t>
            </a:r>
            <a:r>
              <a:rPr sz="1900">
                <a:solidFill>
                  <a:srgbClr val="1E293B"/>
                </a:solidFill>
                <a:latin typeface="Segoe UI"/>
              </a:rPr>
              <a:t>the same Rust crate can also target servers, edge runtimes and WASI.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The demo: one workload, three engines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5B4CC"/>
                </a:solidFill>
                <a:latin typeface="Segoe UI"/>
              </a:rPr>
              <a:t>Same algorithms and validation rules everywhere; the UI checks the outputs match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Rust → WebAssembly  |  Annual new-technology KPI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3566160" cy="2514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3566160" cy="91440"/>
          </a:xfrm>
          <a:prstGeom prst="rect">
            <a:avLst/>
          </a:prstGeom>
          <a:solidFill>
            <a:srgbClr val="D9A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D9A21B"/>
                </a:solidFill>
                <a:latin typeface="Segoe UI"/>
              </a:rPr>
              <a:t>JavaScript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4748B"/>
                </a:solidFill>
                <a:latin typeface="Segoe UI"/>
              </a:rPr>
              <a:t>Traditional (browser)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320040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Segoe UI"/>
              </a:rPr>
              <a:t>Runs in a Web Worker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Segoe UI"/>
              </a:rPr>
              <a:t>CSV only (no xlsx parser)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Segoe UI"/>
              </a:rPr>
              <a:t>Hand-written filters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554480"/>
            <a:ext cx="3566160" cy="2514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554480"/>
            <a:ext cx="3566160" cy="9144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73736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D9534F"/>
                </a:solidFill>
                <a:latin typeface="Segoe UI"/>
              </a:rPr>
              <a:t>C# / .NET 10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19456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4748B"/>
                </a:solidFill>
                <a:latin typeface="Segoe UI"/>
              </a:rPr>
              <a:t>Traditional (server)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651760"/>
            <a:ext cx="320040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Segoe UI"/>
              </a:rPr>
              <a:t>Minimal API, SkiaSharp, ClosedXML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Segoe UI"/>
              </a:rPr>
              <a:t>Upload → process → download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Segoe UI"/>
              </a:rPr>
              <a:t>Server-Timing header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554480"/>
            <a:ext cx="3566160" cy="2514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554480"/>
            <a:ext cx="3566160" cy="9144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73736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2F9E6F"/>
                </a:solidFill>
                <a:latin typeface="Segoe UI"/>
              </a:rPr>
              <a:t>Rust → WASM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19456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64748B"/>
                </a:solidFill>
                <a:latin typeface="Segoe UI"/>
              </a:rPr>
              <a:t>New (browser)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651760"/>
            <a:ext cx="320040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Segoe UI"/>
              </a:rPr>
              <a:t>Runs in a Web Worker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Segoe UI"/>
              </a:rPr>
              <a:t>calamine + csv crates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Segoe UI"/>
              </a:rPr>
              <a:t>Nothing leaves the device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3434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E293B"/>
                </a:solidFill>
                <a:latin typeface="Segoe UI"/>
              </a:rPr>
              <a:t>Workloads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5488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F9E6F"/>
                </a:solidFill>
                <a:latin typeface="Segoe UI"/>
              </a:rPr>
              <a:t>■  </a:t>
            </a:r>
            <a:r>
              <a:rPr sz="1900" b="1">
                <a:solidFill>
                  <a:srgbClr val="1E293B"/>
                </a:solidFill>
                <a:latin typeface="Segoe UI"/>
              </a:rPr>
              <a:t>Image filters: </a:t>
            </a:r>
            <a:r>
              <a:rPr sz="1900">
                <a:solidFill>
                  <a:srgbClr val="1E293B"/>
                </a:solidFill>
                <a:latin typeface="Segoe UI"/>
              </a:rPr>
              <a:t>grayscale, blur, sharpen, edge detection on a 12 MP image.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F9E6F"/>
                </a:solidFill>
                <a:latin typeface="Segoe UI"/>
              </a:rPr>
              <a:t>■  </a:t>
            </a:r>
            <a:r>
              <a:rPr sz="1900" b="1">
                <a:solidFill>
                  <a:srgbClr val="1E293B"/>
                </a:solidFill>
                <a:latin typeface="Segoe UI"/>
              </a:rPr>
              <a:t>Data validation: </a:t>
            </a:r>
            <a:r>
              <a:rPr sz="1900">
                <a:solidFill>
                  <a:srgbClr val="1E293B"/>
                </a:solidFill>
                <a:latin typeface="Segoe UI"/>
              </a:rPr>
              <a:t>100,000-row CSV and XLSX (ids, emails, amounts, dates), with an error report.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How the comparison stays fair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5B4CC"/>
                </a:solidFill>
                <a:latin typeface="Segoe UI"/>
              </a:rPr>
              <a:t>A benchmark is only useful if the reader can trust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Rust → WebAssembly  |  Annual new-technology KPI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6766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>
                <a:solidFill>
                  <a:srgbClr val="2F9E6F"/>
                </a:solidFill>
                <a:latin typeface="Segoe UI"/>
              </a:rPr>
              <a:t>■  </a:t>
            </a:r>
            <a:r>
              <a:rPr sz="1700" b="1">
                <a:solidFill>
                  <a:srgbClr val="1E293B"/>
                </a:solidFill>
                <a:latin typeface="Segoe UI"/>
              </a:rPr>
              <a:t>Same rules: </a:t>
            </a:r>
            <a:r>
              <a:rPr sz="1700">
                <a:solidFill>
                  <a:srgbClr val="1E293B"/>
                </a:solidFill>
                <a:latin typeface="Segoe UI"/>
              </a:rPr>
              <a:t>integer algorithms and identical validation; an output-match check runs on every comparison.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F9E6F"/>
                </a:solidFill>
                <a:latin typeface="Segoe UI"/>
              </a:rPr>
              <a:t>■  </a:t>
            </a:r>
            <a:r>
              <a:rPr sz="1700" b="1">
                <a:solidFill>
                  <a:srgbClr val="1E293B"/>
                </a:solidFill>
                <a:latin typeface="Segoe UI"/>
              </a:rPr>
              <a:t>Workers for both: </a:t>
            </a:r>
            <a:r>
              <a:rPr sz="1700">
                <a:solidFill>
                  <a:srgbClr val="1E293B"/>
                </a:solidFill>
                <a:latin typeface="Segoe UI"/>
              </a:rPr>
              <a:t>JS and WASM run off the main thread, so neither blocks the UI.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F9E6F"/>
                </a:solidFill>
                <a:latin typeface="Segoe UI"/>
              </a:rPr>
              <a:t>■  </a:t>
            </a:r>
            <a:r>
              <a:rPr sz="1700" b="1">
                <a:solidFill>
                  <a:srgbClr val="1E293B"/>
                </a:solidFill>
                <a:latin typeface="Segoe UI"/>
              </a:rPr>
              <a:t>Warm-up + median: </a:t>
            </a:r>
            <a:r>
              <a:rPr sz="1700">
                <a:solidFill>
                  <a:srgbClr val="1E293B"/>
                </a:solidFill>
                <a:latin typeface="Segoe UI"/>
              </a:rPr>
              <a:t>1 warm-up run and N timed runs; the median is reported.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F9E6F"/>
                </a:solidFill>
                <a:latin typeface="Segoe UI"/>
              </a:rPr>
              <a:t>■  </a:t>
            </a:r>
            <a:r>
              <a:rPr sz="1700" b="1">
                <a:solidFill>
                  <a:srgbClr val="1E293B"/>
                </a:solidFill>
                <a:latin typeface="Segoe UI"/>
              </a:rPr>
              <a:t>Honest WASM cost: </a:t>
            </a:r>
            <a:r>
              <a:rPr sz="1700">
                <a:solidFill>
                  <a:srgbClr val="1E293B"/>
                </a:solidFill>
                <a:latin typeface="Segoe UI"/>
              </a:rPr>
              <a:t>timings include the JS ↔ WASM copy of input and output.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F9E6F"/>
                </a:solidFill>
                <a:latin typeface="Segoe UI"/>
              </a:rPr>
              <a:t>■  </a:t>
            </a:r>
            <a:r>
              <a:rPr sz="1700" b="1">
                <a:solidFill>
                  <a:srgbClr val="1E293B"/>
                </a:solidFill>
                <a:latin typeface="Segoe UI"/>
              </a:rPr>
              <a:t>Init shown separately: </a:t>
            </a:r>
            <a:r>
              <a:rPr sz="1700">
                <a:solidFill>
                  <a:srgbClr val="1E293B"/>
                </a:solidFill>
                <a:latin typeface="Segoe UI"/>
              </a:rPr>
              <a:t>WASM load + compile took 30 ms once, not part of per-run timing.</a:t>
            </a:r>
          </a:p>
          <a:p>
            <a:pPr>
              <a:spcAft>
                <a:spcPts val="1000"/>
              </a:spcAft>
            </a:pPr>
            <a:r>
              <a:rPr sz="1100">
                <a:solidFill>
                  <a:srgbClr val="2F9E6F"/>
                </a:solidFill>
                <a:latin typeface="Segoe UI"/>
              </a:rPr>
              <a:t>■  </a:t>
            </a:r>
            <a:r>
              <a:rPr sz="1700" b="1">
                <a:solidFill>
                  <a:srgbClr val="1E293B"/>
                </a:solidFill>
                <a:latin typeface="Segoe UI"/>
              </a:rPr>
              <a:t>Server split: </a:t>
            </a:r>
            <a:r>
              <a:rPr sz="1700">
                <a:solidFill>
                  <a:srgbClr val="1E293B"/>
                </a:solidFill>
                <a:latin typeface="Segoe UI"/>
              </a:rPr>
              <a:t>Server-Timing separates compute from network, so Total is what the user waits.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1554480"/>
            <a:ext cx="3977639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80960" y="1554480"/>
            <a:ext cx="82296" cy="219456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1664208"/>
            <a:ext cx="3611879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64748B"/>
                </a:solidFill>
                <a:latin typeface="Segoe UI"/>
              </a:rPr>
              <a:t>Test 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121408"/>
            <a:ext cx="3611879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Local machine, headless Chromium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API on localhost (network cost is a floor)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Real internet latency would favour WASM even more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3977639"/>
            <a:ext cx="3977639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0" y="3977639"/>
            <a:ext cx="82296" cy="219456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4087367"/>
            <a:ext cx="3611879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F9E6F"/>
                </a:solidFill>
                <a:latin typeface="Segoe UI"/>
              </a:rPr>
              <a:t>Reproducible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544567"/>
            <a:ext cx="3611879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Recorder script: docs/demo-recording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Metrics saved to results.json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Deck is generated from those numbers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Results: measured end-to-end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5B4CC"/>
                </a:solidFill>
                <a:latin typeface="Segoe UI"/>
              </a:rPr>
              <a:t>What the user waits (lower is better). 12 MP blur image and 100,000-row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Rust → WebAssembly  |  Annual new-technology KPI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554480"/>
          <a:ext cx="1115568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920240"/>
                <a:gridCol w="1920240"/>
                <a:gridCol w="1920240"/>
                <a:gridCol w="210312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Segoe UI"/>
                        </a:rPr>
                        <a:t>Scenario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Segoe UI"/>
                        </a:rPr>
                        <a:t>Compared with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Segoe UI"/>
                        </a:rPr>
                        <a:t>Traditional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Segoe UI"/>
                        </a:rPr>
                        <a:t>Rust → WASM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Segoe UI"/>
                        </a:rPr>
                        <a:t>Speed-up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E293B"/>
                          </a:solidFill>
                          <a:latin typeface="Segoe UI"/>
                        </a:rPr>
                        <a:t>Image blur, 12 MP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64748B"/>
                          </a:solidFill>
                          <a:latin typeface="Segoe UI"/>
                        </a:rPr>
                        <a:t>vs JavaScript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D9A21B"/>
                          </a:solidFill>
                          <a:latin typeface="Segoe UI"/>
                        </a:rPr>
                        <a:t>7.69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2F9E6F"/>
                          </a:solidFill>
                          <a:latin typeface="Segoe UI"/>
                        </a:rPr>
                        <a:t>6.92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2F9E6F"/>
                          </a:solidFill>
                          <a:latin typeface="Segoe UI"/>
                        </a:rPr>
                        <a:t>1.1× faster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E293B"/>
                          </a:solidFill>
                          <a:latin typeface="Segoe UI"/>
                        </a:rPr>
                        <a:t>Image blur, 12 MP</a:t>
                      </a:r>
                    </a:p>
                  </a:txBody>
                  <a:tcPr anchor="ctr"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64748B"/>
                          </a:solidFill>
                          <a:latin typeface="Segoe UI"/>
                        </a:rPr>
                        <a:t>vs C# server</a:t>
                      </a:r>
                    </a:p>
                  </a:txBody>
                  <a:tcPr anchor="ctr"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D9534F"/>
                          </a:solidFill>
                          <a:latin typeface="Segoe UI"/>
                        </a:rPr>
                        <a:t>14.90 s</a:t>
                      </a:r>
                    </a:p>
                  </a:txBody>
                  <a:tcPr anchor="ctr"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2F9E6F"/>
                          </a:solidFill>
                          <a:latin typeface="Segoe UI"/>
                        </a:rPr>
                        <a:t>6.75 s</a:t>
                      </a:r>
                    </a:p>
                  </a:txBody>
                  <a:tcPr anchor="ctr"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2F9E6F"/>
                          </a:solidFill>
                          <a:latin typeface="Segoe UI"/>
                        </a:rPr>
                        <a:t>2.2× faster</a:t>
                      </a:r>
                    </a:p>
                  </a:txBody>
                  <a:tcPr anchor="ctr">
                    <a:solidFill>
                      <a:srgbClr val="ECF0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E293B"/>
                          </a:solidFill>
                          <a:latin typeface="Segoe UI"/>
                        </a:rPr>
                        <a:t>CSV validate, 100k rows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64748B"/>
                          </a:solidFill>
                          <a:latin typeface="Segoe UI"/>
                        </a:rPr>
                        <a:t>vs JavaScript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D9A21B"/>
                          </a:solidFill>
                          <a:latin typeface="Segoe UI"/>
                        </a:rPr>
                        <a:t>147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2F9E6F"/>
                          </a:solidFill>
                          <a:latin typeface="Segoe UI"/>
                        </a:rPr>
                        <a:t>61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2F9E6F"/>
                          </a:solidFill>
                          <a:latin typeface="Segoe UI"/>
                        </a:rPr>
                        <a:t>2.4× faster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E293B"/>
                          </a:solidFill>
                          <a:latin typeface="Segoe UI"/>
                        </a:rPr>
                        <a:t>CSV validate, 100k rows</a:t>
                      </a:r>
                    </a:p>
                  </a:txBody>
                  <a:tcPr anchor="ctr"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64748B"/>
                          </a:solidFill>
                          <a:latin typeface="Segoe UI"/>
                        </a:rPr>
                        <a:t>vs C# server</a:t>
                      </a:r>
                    </a:p>
                  </a:txBody>
                  <a:tcPr anchor="ctr"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D9534F"/>
                          </a:solidFill>
                          <a:latin typeface="Segoe UI"/>
                        </a:rPr>
                        <a:t>424 ms</a:t>
                      </a:r>
                    </a:p>
                  </a:txBody>
                  <a:tcPr anchor="ctr"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2F9E6F"/>
                          </a:solidFill>
                          <a:latin typeface="Segoe UI"/>
                        </a:rPr>
                        <a:t>67 ms</a:t>
                      </a:r>
                    </a:p>
                  </a:txBody>
                  <a:tcPr anchor="ctr">
                    <a:solidFill>
                      <a:srgbClr val="EC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2F9E6F"/>
                          </a:solidFill>
                          <a:latin typeface="Segoe UI"/>
                        </a:rPr>
                        <a:t>6.3× faster</a:t>
                      </a:r>
                    </a:p>
                  </a:txBody>
                  <a:tcPr anchor="ctr">
                    <a:solidFill>
                      <a:srgbClr val="ECF0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1E293B"/>
                          </a:solidFill>
                          <a:latin typeface="Segoe UI"/>
                        </a:rPr>
                        <a:t>XLSX validate, 100k rows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64748B"/>
                          </a:solidFill>
                          <a:latin typeface="Segoe UI"/>
                        </a:rPr>
                        <a:t>vs C# server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0">
                          <a:solidFill>
                            <a:srgbClr val="D9534F"/>
                          </a:solidFill>
                          <a:latin typeface="Segoe UI"/>
                        </a:rPr>
                        <a:t>3.98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2F9E6F"/>
                          </a:solidFill>
                          <a:latin typeface="Segoe UI"/>
                        </a:rPr>
                        <a:t>1.12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2F9E6F"/>
                          </a:solidFill>
                          <a:latin typeface="Segoe UI"/>
                        </a:rPr>
                        <a:t>3.6× faster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669280"/>
            <a:ext cx="111556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Median of 3 timed runs after 1 warm-up. Results are from a single machine; expect different absolute numbers elsewhere (range here: 1.1× to 6.3×).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Where WASM wins big, and where it doesn't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5B4CC"/>
                </a:solidFill>
                <a:latin typeface="Segoe UI"/>
              </a:rPr>
              <a:t>End-to-end speed-up of Rust/WASM over the traditional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Rust → WebAssembly  |  Annual new-technology KPI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7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57200" y="1371600"/>
          <a:ext cx="694944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7772400" y="1554480"/>
            <a:ext cx="388620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1554480"/>
            <a:ext cx="82296" cy="150876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1664208"/>
            <a:ext cx="3520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F9E6F"/>
                </a:solidFill>
                <a:latin typeface="Segoe UI"/>
              </a:rPr>
              <a:t>Biggest gains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121408"/>
            <a:ext cx="352044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Server comparisons: no upload, no download, no round trip.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3246120"/>
            <a:ext cx="388620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3246120"/>
            <a:ext cx="82296" cy="1508760"/>
          </a:xfrm>
          <a:prstGeom prst="rect">
            <a:avLst/>
          </a:prstGeom>
          <a:solidFill>
            <a:srgbClr val="D9A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3355848"/>
            <a:ext cx="3520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D9A21B"/>
                </a:solidFill>
                <a:latin typeface="Segoe UI"/>
              </a:rPr>
              <a:t>Smaller gains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3813048"/>
            <a:ext cx="352044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Versus tuned JavaScript on pure compute (image blur).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4937760"/>
            <a:ext cx="388620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0" y="4937760"/>
            <a:ext cx="82296" cy="132588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5047488"/>
            <a:ext cx="3520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64748B"/>
                </a:solidFill>
                <a:latin typeface="Segoe UI"/>
              </a:rPr>
              <a:t>Takeaway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5504688"/>
            <a:ext cx="352044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E293B"/>
                </a:solidFill>
                <a:latin typeface="Segoe UI"/>
              </a:rPr>
              <a:t>WASM is not magic; the architecture matters as much as the language.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Live demo: split screen, same 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5B4CC"/>
                </a:solidFill>
                <a:latin typeface="Segoe UI"/>
              </a:rPr>
              <a:t>Traditional on the left, Rust → WASM on the right, with metrics for each 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Rust → WebAssembly  |  Annual new-technology KPI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1481328"/>
            <a:ext cx="4782312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17904"/>
            <a:ext cx="4709160" cy="32660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4846320"/>
            <a:ext cx="54406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E293B"/>
                </a:solidFill>
                <a:latin typeface="Segoe UI"/>
              </a:rPr>
              <a:t>Image blur: C# server vs Rust/WASM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55664" y="1481328"/>
            <a:ext cx="4782312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517904"/>
            <a:ext cx="4709160" cy="326603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26480" y="4846320"/>
            <a:ext cx="54406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E293B"/>
                </a:solidFill>
                <a:latin typeface="Segoe UI"/>
              </a:rPr>
              <a:t>CSV validation: C# server vs Rust/WASM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0352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2F9E6F"/>
                </a:solidFill>
                <a:latin typeface="Segoe UI"/>
              </a:rPr>
              <a:t>■  </a:t>
            </a:r>
            <a:r>
              <a:rPr sz="1600" b="1">
                <a:solidFill>
                  <a:srgbClr val="1E293B"/>
                </a:solidFill>
                <a:latin typeface="Segoe UI"/>
              </a:rPr>
              <a:t>Metrics per side: </a:t>
            </a:r>
            <a:r>
              <a:rPr sz="1600">
                <a:solidFill>
                  <a:srgbClr val="1E293B"/>
                </a:solidFill>
                <a:latin typeface="Segoe UI"/>
              </a:rPr>
              <a:t>upload/download, compute, total, data sent/received, memory.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F9E6F"/>
                </a:solidFill>
                <a:latin typeface="Segoe UI"/>
              </a:rPr>
              <a:t>■  </a:t>
            </a:r>
            <a:r>
              <a:rPr sz="1600" b="1">
                <a:solidFill>
                  <a:srgbClr val="1E293B"/>
                </a:solidFill>
                <a:latin typeface="Segoe UI"/>
              </a:rPr>
              <a:t>Correctness first: </a:t>
            </a:r>
            <a:r>
              <a:rPr sz="1600">
                <a:solidFill>
                  <a:srgbClr val="1E293B"/>
                </a:solidFill>
                <a:latin typeface="Segoe UI"/>
              </a:rPr>
              <a:t>output-match and identical-totals checks confirm both engines agree.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Demo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5B4CC"/>
                </a:solidFill>
                <a:latin typeface="Segoe UI"/>
              </a:rPr>
              <a:t>About 4 minutes: image filter, CSV and XLSX validation (docs/demo.mp4)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Rust → WebAssembly  |  Annual new-technology KPI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9</a:t>
            </a:r>
          </a:p>
        </p:txBody>
      </p:sp>
      <p:pic>
        <p:nvPicPr>
          <p:cNvPr id="8" name="demo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072487" y="1325880"/>
            <a:ext cx="8046720" cy="4526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72487" y="5943600"/>
            <a:ext cx="80467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Click to play. If playback is unavailable, open docs/demo.mp4 directly.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5B4CC"/>
                </a:solidFill>
                <a:latin typeface="Segoe UI"/>
              </a:rPr>
              <a:t>What Rust + WebAssembly gave me in this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Rust → WebAssembly  |  Annual new-technology KPI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3566160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82296" cy="224028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72768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F9E6F"/>
                </a:solidFill>
                <a:latin typeface="Segoe UI"/>
              </a:rPr>
              <a:t>Faster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29968"/>
            <a:ext cx="320040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1.1× to 6.3× end-to-end in this demo; the largest gains versus the server.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3566160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63040"/>
            <a:ext cx="82296" cy="224028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572768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F9E6F"/>
                </a:solidFill>
                <a:latin typeface="Segoe UI"/>
              </a:rPr>
              <a:t>Private by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029968"/>
            <a:ext cx="320040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Files are processed on the device; sensitive data never needs uploading.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463040"/>
            <a:ext cx="3566160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463040"/>
            <a:ext cx="82296" cy="224028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572768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F9E6F"/>
                </a:solidFill>
                <a:latin typeface="Segoe UI"/>
              </a:rPr>
              <a:t>Cheaper to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029968"/>
            <a:ext cx="320040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Compute moves to the user's machine, so server cost and load drop.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931920"/>
            <a:ext cx="3566160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931920"/>
            <a:ext cx="82296" cy="224028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041648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F9E6F"/>
                </a:solidFill>
                <a:latin typeface="Segoe UI"/>
              </a:rPr>
              <a:t>Reuse and safety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498848"/>
            <a:ext cx="320040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One Rust crate with strong typing; memory safety without a garbage collector.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3931920"/>
            <a:ext cx="3566160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931920"/>
            <a:ext cx="82296" cy="224028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4041648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F9E6F"/>
                </a:solidFill>
                <a:latin typeface="Segoe UI"/>
              </a:rPr>
              <a:t>Works offline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498848"/>
            <a:ext cx="320040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No server round trip once the page and module are loaded.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3931920"/>
            <a:ext cx="3566160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3931920"/>
            <a:ext cx="82296" cy="224028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4041648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F9E6F"/>
                </a:solidFill>
                <a:latin typeface="Segoe UI"/>
              </a:rPr>
              <a:t>Responsive UI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4498848"/>
            <a:ext cx="320040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Web Workers keep the interface smooth while heavy work runs.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Disadvantages and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5B4CC"/>
                </a:solidFill>
                <a:latin typeface="Segoe UI"/>
              </a:rPr>
              <a:t>The honest side of the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Rust → WebAssembly  |  Annual new-technology KPI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3566160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82296" cy="224028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72768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D9534F"/>
                </a:solidFill>
                <a:latin typeface="Segoe UI"/>
              </a:rPr>
              <a:t>Steep learning curve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29968"/>
            <a:ext cx="320040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Ownership and lifetimes take time; slower to write than JS or C#.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3566160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463040"/>
            <a:ext cx="82296" cy="224028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572768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D9534F"/>
                </a:solidFill>
                <a:latin typeface="Segoe UI"/>
              </a:rPr>
              <a:t>Heavier toolchain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029968"/>
            <a:ext cx="320040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Needs Rust, wasm-pack and a build step; CI is more complex.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463040"/>
            <a:ext cx="3566160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463040"/>
            <a:ext cx="82296" cy="224028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572768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D9534F"/>
                </a:solidFill>
                <a:latin typeface="Segoe UI"/>
              </a:rPr>
              <a:t>Boundary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029968"/>
            <a:ext cx="320040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Data is copied between JS and WASM; tiny tasks may not benefit.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931920"/>
            <a:ext cx="3566160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931920"/>
            <a:ext cx="82296" cy="2240280"/>
          </a:xfrm>
          <a:prstGeom prst="rect">
            <a:avLst/>
          </a:prstGeom>
          <a:solidFill>
            <a:srgbClr val="D9A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041648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D9A21B"/>
                </a:solidFill>
                <a:latin typeface="Segoe UI"/>
              </a:rPr>
              <a:t>Bundle size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498848"/>
            <a:ext cx="320040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539 KB module here (wasm-opt not yet applied); extra download on first load.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3931920"/>
            <a:ext cx="3566160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931920"/>
            <a:ext cx="82296" cy="2240280"/>
          </a:xfrm>
          <a:prstGeom prst="rect">
            <a:avLst/>
          </a:prstGeom>
          <a:solidFill>
            <a:srgbClr val="D9A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4041648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D9A21B"/>
                </a:solidFill>
                <a:latin typeface="Segoe UI"/>
              </a:rPr>
              <a:t>Harder debugging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498848"/>
            <a:ext cx="320040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Browser tooling for WASM is improving but trails JS.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3931920"/>
            <a:ext cx="3566160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3931920"/>
            <a:ext cx="82296" cy="2240280"/>
          </a:xfrm>
          <a:prstGeom prst="rect">
            <a:avLst/>
          </a:prstGeom>
          <a:solidFill>
            <a:srgbClr val="D9A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4041648"/>
            <a:ext cx="3200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D9A21B"/>
                </a:solidFill>
                <a:latin typeface="Segoe UI"/>
              </a:rPr>
              <a:t>Not always a win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4498848"/>
            <a:ext cx="320040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Tuned JS is competitive on simple work; gain was only 1.1× on image blur.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When to use it, and when not 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5B4CC"/>
                </a:solidFill>
                <a:latin typeface="Segoe UI"/>
              </a:rPr>
              <a:t>A simple decision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Rust → WebAssembly  |  Annual new-technology KPI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544068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5440680" cy="9144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2F9E6F"/>
                </a:solidFill>
                <a:latin typeface="Segoe UI"/>
              </a:rPr>
              <a:t>Good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2F9E6F"/>
                </a:solidFill>
                <a:latin typeface="Segoe UI"/>
              </a:rPr>
              <a:t>■  </a:t>
            </a:r>
            <a:r>
              <a:rPr sz="1800">
                <a:solidFill>
                  <a:srgbClr val="1E293B"/>
                </a:solidFill>
                <a:latin typeface="Segoe UI"/>
              </a:rPr>
              <a:t>CPU-heavy work in the browser (image, audio, parsing, crypto).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F9E6F"/>
                </a:solidFill>
                <a:latin typeface="Segoe UI"/>
              </a:rPr>
              <a:t>■  </a:t>
            </a:r>
            <a:r>
              <a:rPr sz="1800">
                <a:solidFill>
                  <a:srgbClr val="1E293B"/>
                </a:solidFill>
                <a:latin typeface="Segoe UI"/>
              </a:rPr>
              <a:t>Large files where upload time dominates.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F9E6F"/>
                </a:solidFill>
                <a:latin typeface="Segoe UI"/>
              </a:rPr>
              <a:t>■  </a:t>
            </a:r>
            <a:r>
              <a:rPr sz="1800">
                <a:solidFill>
                  <a:srgbClr val="1E293B"/>
                </a:solidFill>
                <a:latin typeface="Segoe UI"/>
              </a:rPr>
              <a:t>Privacy-sensitive data that should stay local.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F9E6F"/>
                </a:solidFill>
                <a:latin typeface="Segoe UI"/>
              </a:rPr>
              <a:t>■  </a:t>
            </a:r>
            <a:r>
              <a:rPr sz="1800">
                <a:solidFill>
                  <a:srgbClr val="1E293B"/>
                </a:solidFill>
                <a:latin typeface="Segoe UI"/>
              </a:rPr>
              <a:t>Sharing one core library across web, server and CLI.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544068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5440680" cy="9144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9164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D9534F"/>
                </a:solidFill>
                <a:latin typeface="Segoe UI"/>
              </a:rPr>
              <a:t>Poor 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28600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2F9E6F"/>
                </a:solidFill>
                <a:latin typeface="Segoe UI"/>
              </a:rPr>
              <a:t>■  </a:t>
            </a:r>
            <a:r>
              <a:rPr sz="1800">
                <a:solidFill>
                  <a:srgbClr val="1E293B"/>
                </a:solidFill>
                <a:latin typeface="Segoe UI"/>
              </a:rPr>
              <a:t>Simple DOM or UI logic; JavaScript is the right tool.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F9E6F"/>
                </a:solidFill>
                <a:latin typeface="Segoe UI"/>
              </a:rPr>
              <a:t>■  </a:t>
            </a:r>
            <a:r>
              <a:rPr sz="1800">
                <a:solidFill>
                  <a:srgbClr val="1E293B"/>
                </a:solidFill>
                <a:latin typeface="Segoe UI"/>
              </a:rPr>
              <a:t>Small inputs where the JS ↔ WASM copy dominates.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F9E6F"/>
                </a:solidFill>
                <a:latin typeface="Segoe UI"/>
              </a:rPr>
              <a:t>■  </a:t>
            </a:r>
            <a:r>
              <a:rPr sz="1800">
                <a:solidFill>
                  <a:srgbClr val="1E293B"/>
                </a:solidFill>
                <a:latin typeface="Segoe UI"/>
              </a:rPr>
              <a:t>Teams with no Rust skills and tight deadlines.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F9E6F"/>
                </a:solidFill>
                <a:latin typeface="Segoe UI"/>
              </a:rPr>
              <a:t>■  </a:t>
            </a:r>
            <a:r>
              <a:rPr sz="1800">
                <a:solidFill>
                  <a:srgbClr val="1E293B"/>
                </a:solidFill>
                <a:latin typeface="Segoe UI"/>
              </a:rPr>
              <a:t>Work that needs server-side data or central auditing.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051560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Skills developed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5B4CC"/>
                </a:solidFill>
                <a:latin typeface="Segoe UI"/>
              </a:rPr>
              <a:t>Personal growth beyond the current skill standard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Rust → WebAssembly  |  Annual new-technology KPI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63040"/>
            <a:ext cx="544068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82296" cy="1828800"/>
          </a:xfrm>
          <a:prstGeom prst="rect">
            <a:avLst/>
          </a:prstGeom>
          <a:solidFill>
            <a:srgbClr val="DE6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72768"/>
            <a:ext cx="50749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DE6B2F"/>
                </a:solidFill>
                <a:latin typeface="Segoe UI"/>
              </a:rPr>
              <a:t>Rust fundamentals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29968"/>
            <a:ext cx="50749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Ownership, error handling, crates (serde, csv, calamine).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544068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82296" cy="182880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572768"/>
            <a:ext cx="50749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F9E6F"/>
                </a:solidFill>
                <a:latin typeface="Segoe UI"/>
              </a:rPr>
              <a:t>WebAssembly toolchain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29968"/>
            <a:ext cx="50749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wasm-pack, wasm-bindgen, Web Workers, JS ↔ WASM boundaries.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520440"/>
            <a:ext cx="544068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520440"/>
            <a:ext cx="82296" cy="1828800"/>
          </a:xfrm>
          <a:prstGeom prst="rect">
            <a:avLst/>
          </a:prstGeom>
          <a:solidFill>
            <a:srgbClr val="D9A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30168"/>
            <a:ext cx="50749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D9A21B"/>
                </a:solidFill>
                <a:latin typeface="Segoe UI"/>
              </a:rPr>
              <a:t>Benchmarking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087368"/>
            <a:ext cx="50749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Fair methodology, warm-ups, medians, output-match checks.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520440"/>
            <a:ext cx="544068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520440"/>
            <a:ext cx="82296" cy="1828800"/>
          </a:xfrm>
          <a:prstGeom prst="rect">
            <a:avLst/>
          </a:prstGeom>
          <a:solidFill>
            <a:srgbClr val="654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630168"/>
            <a:ext cx="50749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654FF0"/>
                </a:solidFill>
                <a:latin typeface="Segoe UI"/>
              </a:rPr>
              <a:t>Full-stack comparison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087368"/>
            <a:ext cx="50749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E293B"/>
                </a:solidFill>
                <a:latin typeface="Segoe UI"/>
              </a:rPr>
              <a:t>React + Vite UI, .NET 10 minimal API, Swagger, scripted automation.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623560"/>
            <a:ext cx="11109960" cy="6858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669280"/>
            <a:ext cx="10698480" cy="5943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KPI evidence:  slides ✔   demo ✔   code sample ✔   blog post (next)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F9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2F9E6F"/>
                </a:solidFill>
                <a:latin typeface="Segoe UI"/>
              </a:rPr>
              <a:t>■  </a:t>
            </a:r>
            <a:r>
              <a:rPr sz="2200">
                <a:solidFill>
                  <a:srgbClr val="FFFFFF"/>
                </a:solidFill>
                <a:latin typeface="Segoe UI"/>
              </a:rPr>
              <a:t>Publish the blog post with the methodology and results.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F9E6F"/>
                </a:solidFill>
                <a:latin typeface="Segoe UI"/>
              </a:rPr>
              <a:t>■  </a:t>
            </a:r>
            <a:r>
              <a:rPr sz="2200">
                <a:solidFill>
                  <a:srgbClr val="FFFFFF"/>
                </a:solidFill>
                <a:latin typeface="Segoe UI"/>
              </a:rPr>
              <a:t>Apply wasm-opt and measure the bundle-size and speed gain.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F9E6F"/>
                </a:solidFill>
                <a:latin typeface="Segoe UI"/>
              </a:rPr>
              <a:t>■  </a:t>
            </a:r>
            <a:r>
              <a:rPr sz="2200">
                <a:solidFill>
                  <a:srgbClr val="FFFFFF"/>
                </a:solidFill>
                <a:latin typeface="Segoe UI"/>
              </a:rPr>
              <a:t>Try SIMD and multi-threading for the image filters.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F9E6F"/>
                </a:solidFill>
                <a:latin typeface="Segoe UI"/>
              </a:rPr>
              <a:t>■  </a:t>
            </a:r>
            <a:r>
              <a:rPr sz="2200">
                <a:solidFill>
                  <a:srgbClr val="FFFFFF"/>
                </a:solidFill>
                <a:latin typeface="Segoe UI"/>
              </a:rPr>
              <a:t>Pilot WASM on one real internal workload with heavy client-side files.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94960"/>
            <a:ext cx="10058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2F9E6F"/>
                </a:solidFill>
                <a:latin typeface="Segoe U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